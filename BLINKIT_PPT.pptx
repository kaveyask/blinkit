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kaveyasathishskaveyasathish@gmail.com" userId="8b67e4559a60eddf" providerId="LiveId" clId="{7165BEFC-6165-47FA-8757-D851393C1F71}"/>
    <pc:docChg chg="undo custSel delSld modSld">
      <pc:chgData name="skaveyasathishskaveyasathish@gmail.com" userId="8b67e4559a60eddf" providerId="LiveId" clId="{7165BEFC-6165-47FA-8757-D851393C1F71}" dt="2026-08-04T05:56:37.023" v="17" actId="20577"/>
      <pc:docMkLst>
        <pc:docMk/>
      </pc:docMkLst>
      <pc:sldChg chg="modSp mod">
        <pc:chgData name="skaveyasathishskaveyasathish@gmail.com" userId="8b67e4559a60eddf" providerId="LiveId" clId="{7165BEFC-6165-47FA-8757-D851393C1F71}" dt="2026-08-04T05:56:37.023" v="17" actId="20577"/>
        <pc:sldMkLst>
          <pc:docMk/>
          <pc:sldMk cId="0" sldId="257"/>
        </pc:sldMkLst>
        <pc:spChg chg="mod">
          <ac:chgData name="skaveyasathishskaveyasathish@gmail.com" userId="8b67e4559a60eddf" providerId="LiveId" clId="{7165BEFC-6165-47FA-8757-D851393C1F71}" dt="2026-08-04T05:56:37.023" v="17" actId="20577"/>
          <ac:spMkLst>
            <pc:docMk/>
            <pc:sldMk cId="0" sldId="257"/>
            <ac:spMk id="6" creationId="{00000000-0000-0000-0000-000000000000}"/>
          </ac:spMkLst>
        </pc:spChg>
      </pc:sldChg>
      <pc:sldChg chg="addSp delSp modSp mod">
        <pc:chgData name="skaveyasathishskaveyasathish@gmail.com" userId="8b67e4559a60eddf" providerId="LiveId" clId="{7165BEFC-6165-47FA-8757-D851393C1F71}" dt="2026-08-04T04:58:46.549" v="13" actId="478"/>
        <pc:sldMkLst>
          <pc:docMk/>
          <pc:sldMk cId="0" sldId="261"/>
        </pc:sldMkLst>
        <pc:spChg chg="add del">
          <ac:chgData name="skaveyasathishskaveyasathish@gmail.com" userId="8b67e4559a60eddf" providerId="LiveId" clId="{7165BEFC-6165-47FA-8757-D851393C1F71}" dt="2026-08-04T04:58:46.549" v="13" actId="478"/>
          <ac:spMkLst>
            <pc:docMk/>
            <pc:sldMk cId="0" sldId="261"/>
            <ac:spMk id="40" creationId="{00000000-0000-0000-0000-000000000000}"/>
          </ac:spMkLst>
        </pc:spChg>
        <pc:spChg chg="add del">
          <ac:chgData name="skaveyasathishskaveyasathish@gmail.com" userId="8b67e4559a60eddf" providerId="LiveId" clId="{7165BEFC-6165-47FA-8757-D851393C1F71}" dt="2026-08-04T04:58:45.692" v="12" actId="478"/>
          <ac:spMkLst>
            <pc:docMk/>
            <pc:sldMk cId="0" sldId="261"/>
            <ac:spMk id="41" creationId="{00000000-0000-0000-0000-000000000000}"/>
          </ac:spMkLst>
        </pc:spChg>
        <pc:spChg chg="add del mod">
          <ac:chgData name="skaveyasathishskaveyasathish@gmail.com" userId="8b67e4559a60eddf" providerId="LiveId" clId="{7165BEFC-6165-47FA-8757-D851393C1F71}" dt="2026-08-04T04:58:44.815" v="11" actId="20577"/>
          <ac:spMkLst>
            <pc:docMk/>
            <pc:sldMk cId="0" sldId="261"/>
            <ac:spMk id="43" creationId="{00000000-0000-0000-0000-000000000000}"/>
          </ac:spMkLst>
        </pc:spChg>
        <pc:spChg chg="mod">
          <ac:chgData name="skaveyasathishskaveyasathish@gmail.com" userId="8b67e4559a60eddf" providerId="LiveId" clId="{7165BEFC-6165-47FA-8757-D851393C1F71}" dt="2026-08-04T04:58:42.781" v="9" actId="1076"/>
          <ac:spMkLst>
            <pc:docMk/>
            <pc:sldMk cId="0" sldId="261"/>
            <ac:spMk id="44" creationId="{00000000-0000-0000-0000-000000000000}"/>
          </ac:spMkLst>
        </pc:spChg>
        <pc:spChg chg="mod">
          <ac:chgData name="skaveyasathishskaveyasathish@gmail.com" userId="8b67e4559a60eddf" providerId="LiveId" clId="{7165BEFC-6165-47FA-8757-D851393C1F71}" dt="2026-08-04T04:58:40.413" v="8" actId="14100"/>
          <ac:spMkLst>
            <pc:docMk/>
            <pc:sldMk cId="0" sldId="261"/>
            <ac:spMk id="47" creationId="{00000000-0000-0000-0000-000000000000}"/>
          </ac:spMkLst>
        </pc:spChg>
      </pc:sldChg>
      <pc:sldChg chg="del">
        <pc:chgData name="skaveyasathishskaveyasathish@gmail.com" userId="8b67e4559a60eddf" providerId="LiveId" clId="{7165BEFC-6165-47FA-8757-D851393C1F71}" dt="2026-08-04T05:08:18.104" v="14" actId="47"/>
        <pc:sldMkLst>
          <pc:docMk/>
          <pc:sldMk cId="0" sldId="2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2623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3291840" cy="3291840"/>
          </a:xfrm>
          <a:prstGeom prst="ellipse">
            <a:avLst/>
          </a:prstGeom>
          <a:solidFill>
            <a:srgbClr val="22B573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607040" y="5120640"/>
            <a:ext cx="2011680" cy="2011680"/>
          </a:xfrm>
          <a:prstGeom prst="ellipse">
            <a:avLst/>
          </a:prstGeom>
          <a:solidFill>
            <a:srgbClr val="FFC629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914400" y="-1097280"/>
            <a:ext cx="2926080" cy="2926080"/>
          </a:xfrm>
          <a:prstGeom prst="ellipse">
            <a:avLst/>
          </a:prstGeom>
          <a:solidFill>
            <a:srgbClr val="FFC629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2B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ANALYTICS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C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Blinkit Quick-Commerce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C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Dashboard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 •  Customers  •  Delivery  •  Inventory  •  Marketing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25400">
            <a:solidFill>
              <a:srgbClr val="22B57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22960" y="5394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5650992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KAVEYA S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229600" y="1737360"/>
            <a:ext cx="3108960" cy="1371600"/>
          </a:xfrm>
          <a:prstGeom prst="roundRect">
            <a:avLst>
              <a:gd name="adj" fmla="val 6667"/>
            </a:avLst>
          </a:prstGeom>
          <a:solidFill>
            <a:srgbClr val="1C242A"/>
          </a:solidFill>
          <a:ln w="9525">
            <a:solidFill>
              <a:srgbClr val="2C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41248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C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5,000+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412480" y="22860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7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analyzed across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AA7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2,500 customers &amp; 268 products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B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C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120640" cy="4709160"/>
          </a:xfrm>
          <a:prstGeom prst="roundRect">
            <a:avLst>
              <a:gd name="adj" fmla="val 1942"/>
            </a:avLst>
          </a:prstGeom>
          <a:solidFill>
            <a:srgbClr val="1C242A"/>
          </a:solidFill>
          <a:ln w="9525">
            <a:solidFill>
              <a:srgbClr val="2C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85800" y="1691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B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103120"/>
            <a:ext cx="4663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objective of this project is to analyze Blinkit's quick-commerce operations — orders, customers, delivery, inventory, and marketing — from March 2023 to November 2024 and transform raw operational data into meaningful business insights using Power BI.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3840480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9AA7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interconnected data tables covering the full order lifecycle — from placement to delivery, feedback, and campaign performance — were modeled into a single, decision-ready dashboard.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52160" y="146304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Dashboard Helps: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852160" y="1920240"/>
            <a:ext cx="2788920" cy="1234440"/>
          </a:xfrm>
          <a:prstGeom prst="roundRect">
            <a:avLst>
              <a:gd name="adj" fmla="val 5926"/>
            </a:avLst>
          </a:prstGeom>
          <a:solidFill>
            <a:srgbClr val="202A31"/>
          </a:solidFill>
          <a:ln w="9525">
            <a:solidFill>
              <a:srgbClr val="2C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016752" y="2084832"/>
            <a:ext cx="310896" cy="310896"/>
          </a:xfrm>
          <a:prstGeom prst="ellipse">
            <a:avLst/>
          </a:prstGeom>
          <a:solidFill>
            <a:srgbClr val="22B5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016752" y="20848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16752" y="24688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Orders &amp; Revenue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016752" y="27614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7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order volume, value, and trends over time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823960" y="1920240"/>
            <a:ext cx="2788920" cy="1234440"/>
          </a:xfrm>
          <a:prstGeom prst="roundRect">
            <a:avLst>
              <a:gd name="adj" fmla="val 5926"/>
            </a:avLst>
          </a:prstGeom>
          <a:solidFill>
            <a:srgbClr val="202A31"/>
          </a:solidFill>
          <a:ln w="9525">
            <a:solidFill>
              <a:srgbClr val="2C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988552" y="2084832"/>
            <a:ext cx="310896" cy="310896"/>
          </a:xfrm>
          <a:prstGeom prst="ellipse">
            <a:avLst/>
          </a:prstGeom>
          <a:solidFill>
            <a:srgbClr val="22B5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988552" y="20848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988552" y="24688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Customers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988552" y="27614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7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behavior, retention &amp; repeat purchases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852160" y="3337560"/>
            <a:ext cx="2788920" cy="1234440"/>
          </a:xfrm>
          <a:prstGeom prst="roundRect">
            <a:avLst>
              <a:gd name="adj" fmla="val 5926"/>
            </a:avLst>
          </a:prstGeom>
          <a:solidFill>
            <a:srgbClr val="202A31"/>
          </a:solidFill>
          <a:ln w="9525">
            <a:solidFill>
              <a:srgbClr val="2C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016752" y="3502152"/>
            <a:ext cx="310896" cy="310896"/>
          </a:xfrm>
          <a:prstGeom prst="ellipse">
            <a:avLst/>
          </a:prstGeom>
          <a:solidFill>
            <a:srgbClr val="22B5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016752" y="35021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16752" y="3886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Delivery Performance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016752" y="417880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7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on-time rates and delay causes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823960" y="3337560"/>
            <a:ext cx="2788920" cy="1234440"/>
          </a:xfrm>
          <a:prstGeom prst="roundRect">
            <a:avLst>
              <a:gd name="adj" fmla="val 5926"/>
            </a:avLst>
          </a:prstGeom>
          <a:solidFill>
            <a:srgbClr val="202A31"/>
          </a:solidFill>
          <a:ln w="9525">
            <a:solidFill>
              <a:srgbClr val="2C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988552" y="3502152"/>
            <a:ext cx="310896" cy="310896"/>
          </a:xfrm>
          <a:prstGeom prst="ellipse">
            <a:avLst/>
          </a:prstGeom>
          <a:solidFill>
            <a:srgbClr val="22B5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988552" y="35021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988552" y="3886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Inventory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988552" y="417880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7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stock levels and damaged goods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852160" y="4754880"/>
            <a:ext cx="2788920" cy="1234440"/>
          </a:xfrm>
          <a:prstGeom prst="roundRect">
            <a:avLst>
              <a:gd name="adj" fmla="val 5926"/>
            </a:avLst>
          </a:prstGeom>
          <a:solidFill>
            <a:srgbClr val="202A31"/>
          </a:solidFill>
          <a:ln w="9525">
            <a:solidFill>
              <a:srgbClr val="2C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016752" y="4919472"/>
            <a:ext cx="310896" cy="310896"/>
          </a:xfrm>
          <a:prstGeom prst="ellipse">
            <a:avLst/>
          </a:prstGeom>
          <a:solidFill>
            <a:srgbClr val="22B5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016752" y="49194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16752" y="5303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Marketing ROI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016752" y="55961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7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 campaign spend, ROAS &amp; channel mix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823960" y="4754880"/>
            <a:ext cx="2788920" cy="1234440"/>
          </a:xfrm>
          <a:prstGeom prst="roundRect">
            <a:avLst>
              <a:gd name="adj" fmla="val 5926"/>
            </a:avLst>
          </a:prstGeom>
          <a:solidFill>
            <a:srgbClr val="202A31"/>
          </a:solidFill>
          <a:ln w="9525">
            <a:solidFill>
              <a:srgbClr val="2C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8988552" y="4919472"/>
            <a:ext cx="310896" cy="310896"/>
          </a:xfrm>
          <a:prstGeom prst="ellipse">
            <a:avLst/>
          </a:prstGeom>
          <a:solidFill>
            <a:srgbClr val="22B5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8988552" y="49194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988552" y="5303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Customer Feedback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988552" y="55961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7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ratings and sentiment trends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Blinkit Quick-Commerce Analytics  |  Power BI Project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B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C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47120" cy="1188720"/>
          </a:xfrm>
          <a:prstGeom prst="roundRect">
            <a:avLst>
              <a:gd name="adj" fmla="val 7692"/>
            </a:avLst>
          </a:prstGeom>
          <a:solidFill>
            <a:srgbClr val="1C242A"/>
          </a:solidFill>
          <a:ln w="9525">
            <a:solidFill>
              <a:srgbClr val="2C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Quick-commerce platforms generate massive volumes of data every day across orders, delivery, inventory, and marketing — spread across disconnected systems that are difficult to interpret in raw form, making it hard to spot operational issues quickly.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Aims To: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310896" cy="310896"/>
          </a:xfrm>
          <a:prstGeom prst="ellipse">
            <a:avLst/>
          </a:prstGeom>
          <a:solidFill>
            <a:srgbClr val="22B5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24128" y="3374136"/>
            <a:ext cx="104973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&amp; Integrate Data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9AA7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Unify 8 tables spanning ~1,03,000+ records into one model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005072"/>
            <a:ext cx="310896" cy="310896"/>
          </a:xfrm>
          <a:prstGeom prst="ellipse">
            <a:avLst/>
          </a:prstGeom>
          <a:solidFill>
            <a:srgbClr val="22B5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40050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24128" y="3950208"/>
            <a:ext cx="104973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 Order &amp; Delivery Patterns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9AA7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Reveal trends across time, region and category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581144"/>
            <a:ext cx="310896" cy="310896"/>
          </a:xfrm>
          <a:prstGeom prst="ellipse">
            <a:avLst/>
          </a:prstGeom>
          <a:solidFill>
            <a:srgbClr val="22B5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8640" y="45811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24128" y="4526280"/>
            <a:ext cx="104973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Delivery Delays &amp; Causes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9AA7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Pinpoint operational bottlenecks like traffic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157216"/>
            <a:ext cx="310896" cy="310896"/>
          </a:xfrm>
          <a:prstGeom prst="ellipse">
            <a:avLst/>
          </a:prstGeom>
          <a:solidFill>
            <a:srgbClr val="22B5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51572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24128" y="5102352"/>
            <a:ext cx="104973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High-Performing Products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9AA7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 top categories, brands &amp; channels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733288"/>
            <a:ext cx="310896" cy="310896"/>
          </a:xfrm>
          <a:prstGeom prst="ellipse">
            <a:avLst/>
          </a:prstGeom>
          <a:solidFill>
            <a:srgbClr val="22B5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48640" y="57332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24128" y="5678424"/>
            <a:ext cx="104973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Proactive Strategy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9AA7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data-driven, faster business decisions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Blinkit Quick-Commerce Analytics  |  Power BI Project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B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C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1C242A"/>
          </a:solidFill>
          <a:ln w="9525">
            <a:solidFill>
              <a:srgbClr val="2C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1618488"/>
            <a:ext cx="3017520" cy="5783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C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1,03,340+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223113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7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Records Across 8 Tables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886200" y="150876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1C242A"/>
          </a:solidFill>
          <a:ln w="9525">
            <a:solidFill>
              <a:srgbClr val="2C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023360" y="1618488"/>
            <a:ext cx="3017520" cy="5783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2B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2023 – Nov 2024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023360" y="223113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7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Period Covered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Attributes: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08960"/>
          <a:ext cx="11247120" cy="279806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21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6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21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6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21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Records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6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C6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Demographics, segment, order history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C6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Category, brand, pricing, margin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C6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 date, delivery status, payment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5,000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C6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 Items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Product-level qty &amp; price per order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5,000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C6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Delivery Performance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Promised vs actual delivery, delay reasons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5,000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C6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 Feedback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Ratings, sentiment, feedback category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5,000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C6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Inventory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 stock received &amp; damaged stock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75,172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A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C6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Marketing Performance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Campaign spend, clicks, conversions, ROAS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5,400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Blinkit Quick-Commerce Analytics  |  Power BI Project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B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PREPARATION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C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 &amp; Transformation Performed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40680" cy="4572000"/>
          </a:xfrm>
          <a:prstGeom prst="roundRect">
            <a:avLst>
              <a:gd name="adj" fmla="val 2000"/>
            </a:avLst>
          </a:prstGeom>
          <a:solidFill>
            <a:srgbClr val="1C242A"/>
          </a:solidFill>
          <a:ln w="9525">
            <a:solidFill>
              <a:srgbClr val="2C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B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240280"/>
            <a:ext cx="310896" cy="310896"/>
          </a:xfrm>
          <a:prstGeom prst="ellipse">
            <a:avLst/>
          </a:prstGeom>
          <a:solidFill>
            <a:srgbClr val="22B5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07008" y="2185416"/>
            <a:ext cx="43708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Null Values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9AA7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 missing entries across all fact tables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310896" cy="310896"/>
          </a:xfrm>
          <a:prstGeom prst="ellipse">
            <a:avLst/>
          </a:prstGeom>
          <a:solidFill>
            <a:srgbClr val="22B5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07008" y="2962656"/>
            <a:ext cx="43708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Checked Duplicate Records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9AA7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unique order &amp; feedback IDs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310896" cy="310896"/>
          </a:xfrm>
          <a:prstGeom prst="ellipse">
            <a:avLst/>
          </a:prstGeom>
          <a:solidFill>
            <a:srgbClr val="22B5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31520" y="37947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07008" y="3739896"/>
            <a:ext cx="43708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Column Names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9AA7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naming across the data model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572000"/>
            <a:ext cx="310896" cy="310896"/>
          </a:xfrm>
          <a:prstGeom prst="ellipse">
            <a:avLst/>
          </a:prstGeom>
          <a:solidFill>
            <a:srgbClr val="22B5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31520" y="45720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07008" y="4517136"/>
            <a:ext cx="43708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Corrected Data Types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9AA7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dates, numerics and categorical fields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5349240"/>
            <a:ext cx="310896" cy="310896"/>
          </a:xfrm>
          <a:prstGeom prst="ellipse">
            <a:avLst/>
          </a:prstGeom>
          <a:solidFill>
            <a:srgbClr val="22B5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31520" y="53492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07008" y="5294376"/>
            <a:ext cx="43708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 Inconsistencies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9AA7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Cleaned area/city naming variations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63640" y="1554480"/>
            <a:ext cx="5440680" cy="4572000"/>
          </a:xfrm>
          <a:prstGeom prst="roundRect">
            <a:avLst>
              <a:gd name="adj" fmla="val 2000"/>
            </a:avLst>
          </a:prstGeom>
          <a:solidFill>
            <a:srgbClr val="1C242A"/>
          </a:solidFill>
          <a:ln w="9525">
            <a:solidFill>
              <a:srgbClr val="2C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537960" y="1783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C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Transformation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37960" y="2240280"/>
            <a:ext cx="310896" cy="310896"/>
          </a:xfrm>
          <a:prstGeom prst="ellipse">
            <a:avLst/>
          </a:prstGeom>
          <a:solidFill>
            <a:srgbClr val="FFC6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537960" y="2240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13448" y="2185416"/>
            <a:ext cx="43708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DAX Measures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9AA7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Success Rate, Repeat Customers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537960" y="3017520"/>
            <a:ext cx="310896" cy="310896"/>
          </a:xfrm>
          <a:prstGeom prst="ellipse">
            <a:avLst/>
          </a:prstGeom>
          <a:solidFill>
            <a:srgbClr val="FFC6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537960" y="30175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13448" y="2962656"/>
            <a:ext cx="43708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Key Metrics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9AA7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Revenue, quantity &amp; order totals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537960" y="3794760"/>
            <a:ext cx="310896" cy="310896"/>
          </a:xfrm>
          <a:prstGeom prst="ellipse">
            <a:avLst/>
          </a:prstGeom>
          <a:solidFill>
            <a:srgbClr val="FFC6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537960" y="37947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013448" y="3739896"/>
            <a:ext cx="43708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Calculated Damage % &amp; ROAS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9AA7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loss and marketing efficiency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537960" y="4572000"/>
            <a:ext cx="310896" cy="310896"/>
          </a:xfrm>
          <a:prstGeom prst="ellipse">
            <a:avLst/>
          </a:prstGeom>
          <a:solidFill>
            <a:srgbClr val="FFC6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537960" y="45720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013448" y="4517136"/>
            <a:ext cx="43708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Date Hierarchies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9AA7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/ month trend analysis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537960" y="5349240"/>
            <a:ext cx="310896" cy="310896"/>
          </a:xfrm>
          <a:prstGeom prst="ellipse">
            <a:avLst/>
          </a:prstGeom>
          <a:solidFill>
            <a:srgbClr val="FFC6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537960" y="53492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013448" y="5294376"/>
            <a:ext cx="43708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Modeled Table Relationships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9AA7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all 8 tables for cross-analysis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Blinkit Quick-Commerce Analytics  |  Power BI Project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B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TECHNIQUES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C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Features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1C242A"/>
          </a:solidFill>
          <a:ln w="9525">
            <a:solidFill>
              <a:srgbClr val="2C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1924812"/>
            <a:ext cx="402336" cy="402336"/>
          </a:xfrm>
          <a:prstGeom prst="ellipse">
            <a:avLst/>
          </a:prstGeom>
          <a:solidFill>
            <a:srgbClr val="FFC6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9248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70432" y="1600200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Cards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19272" y="160020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202A31"/>
          </a:solidFill>
          <a:ln w="9525">
            <a:solidFill>
              <a:srgbClr val="2C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502152" y="1924812"/>
            <a:ext cx="402336" cy="402336"/>
          </a:xfrm>
          <a:prstGeom prst="ellipse">
            <a:avLst/>
          </a:prstGeom>
          <a:solidFill>
            <a:srgbClr val="22B5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502152" y="19248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032504" y="1600200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Clustered Bar Charts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81344" y="160020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1C242A"/>
          </a:solidFill>
          <a:ln w="9525">
            <a:solidFill>
              <a:srgbClr val="2C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364224" y="1924812"/>
            <a:ext cx="402336" cy="402336"/>
          </a:xfrm>
          <a:prstGeom prst="ellipse">
            <a:avLst/>
          </a:prstGeom>
          <a:solidFill>
            <a:srgbClr val="22B5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364224" y="19248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94576" y="1600200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Clustered Column Charts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043416" y="160020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202A31"/>
          </a:solidFill>
          <a:ln w="9525">
            <a:solidFill>
              <a:srgbClr val="2C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9226296" y="1924812"/>
            <a:ext cx="402336" cy="402336"/>
          </a:xfrm>
          <a:prstGeom prst="ellipse">
            <a:avLst/>
          </a:prstGeom>
          <a:solidFill>
            <a:srgbClr val="FFC6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226296" y="19248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756648" y="1600200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 Charts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2770632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1C242A"/>
          </a:solidFill>
          <a:ln w="9525">
            <a:solidFill>
              <a:srgbClr val="2C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40080" y="3095244"/>
            <a:ext cx="402336" cy="402336"/>
          </a:xfrm>
          <a:prstGeom prst="ellipse">
            <a:avLst/>
          </a:prstGeom>
          <a:solidFill>
            <a:srgbClr val="22B5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0080" y="309524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70432" y="2770632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Donut Charts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319272" y="2770632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202A31"/>
          </a:solidFill>
          <a:ln w="9525">
            <a:solidFill>
              <a:srgbClr val="2C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502152" y="3095244"/>
            <a:ext cx="402336" cy="402336"/>
          </a:xfrm>
          <a:prstGeom prst="ellipse">
            <a:avLst/>
          </a:prstGeom>
          <a:solidFill>
            <a:srgbClr val="22B5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502152" y="309524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032504" y="2770632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Charts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181344" y="2770632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1C242A"/>
          </a:solidFill>
          <a:ln w="9525">
            <a:solidFill>
              <a:srgbClr val="2C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364224" y="3095244"/>
            <a:ext cx="402336" cy="402336"/>
          </a:xfrm>
          <a:prstGeom prst="ellipse">
            <a:avLst/>
          </a:prstGeom>
          <a:solidFill>
            <a:srgbClr val="FFC6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364224" y="309524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894576" y="2770632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Ribbon Chart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9043416" y="2770632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202A31"/>
          </a:solidFill>
          <a:ln w="9525">
            <a:solidFill>
              <a:srgbClr val="2C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9226296" y="3095244"/>
            <a:ext cx="402336" cy="402336"/>
          </a:xfrm>
          <a:prstGeom prst="ellipse">
            <a:avLst/>
          </a:prstGeom>
          <a:solidFill>
            <a:srgbClr val="22B5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9226296" y="309524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756648" y="2770632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Slicers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57200" y="3941064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1C242A"/>
          </a:solidFill>
          <a:ln w="9525">
            <a:solidFill>
              <a:srgbClr val="2C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640080" y="4265676"/>
            <a:ext cx="402336" cy="402336"/>
          </a:xfrm>
          <a:prstGeom prst="ellipse">
            <a:avLst/>
          </a:prstGeom>
          <a:solidFill>
            <a:srgbClr val="22B5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40080" y="42656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170432" y="3941064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Slicers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3319272" y="3941064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202A31"/>
          </a:solidFill>
          <a:ln w="9525">
            <a:solidFill>
              <a:srgbClr val="2C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3502152" y="4265676"/>
            <a:ext cx="402336" cy="402336"/>
          </a:xfrm>
          <a:prstGeom prst="ellipse">
            <a:avLst/>
          </a:prstGeom>
          <a:solidFill>
            <a:srgbClr val="FFC6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502152" y="42656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032504" y="3941064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 Filtering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181344" y="3941064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1C242A"/>
          </a:solidFill>
          <a:ln w="9525">
            <a:solidFill>
              <a:srgbClr val="2C363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5" name="Shape 43"/>
          <p:cNvSpPr/>
          <p:nvPr/>
        </p:nvSpPr>
        <p:spPr>
          <a:xfrm>
            <a:off x="6364224" y="4265676"/>
            <a:ext cx="402336" cy="402336"/>
          </a:xfrm>
          <a:prstGeom prst="ellipse">
            <a:avLst/>
          </a:prstGeom>
          <a:solidFill>
            <a:srgbClr val="22B5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364224" y="42656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894576" y="3941064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Navigator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9043416" y="3941064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202A31"/>
          </a:solidFill>
          <a:ln w="9525">
            <a:solidFill>
              <a:srgbClr val="2C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9226296" y="4265676"/>
            <a:ext cx="402336" cy="402336"/>
          </a:xfrm>
          <a:prstGeom prst="ellipse">
            <a:avLst/>
          </a:prstGeom>
          <a:solidFill>
            <a:srgbClr val="22B5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9226296" y="42656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9756648" y="3941064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DAX Measures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457200" y="5111496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1C242A"/>
          </a:solidFill>
          <a:ln w="9525">
            <a:solidFill>
              <a:srgbClr val="2C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640080" y="5436108"/>
            <a:ext cx="402336" cy="402336"/>
          </a:xfrm>
          <a:prstGeom prst="ellipse">
            <a:avLst/>
          </a:prstGeom>
          <a:solidFill>
            <a:srgbClr val="FFC6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640080" y="54361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1170432" y="5111496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Formatting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3319272" y="5111496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202A31"/>
          </a:solidFill>
          <a:ln w="9525">
            <a:solidFill>
              <a:srgbClr val="2C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3502152" y="5436108"/>
            <a:ext cx="402336" cy="402336"/>
          </a:xfrm>
          <a:prstGeom prst="ellipse">
            <a:avLst/>
          </a:prstGeom>
          <a:solidFill>
            <a:srgbClr val="22B5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3502152" y="54361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4032504" y="5111496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Modeling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6181344" y="5111496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1C242A"/>
          </a:solidFill>
          <a:ln w="9525">
            <a:solidFill>
              <a:srgbClr val="2C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6364224" y="5436108"/>
            <a:ext cx="402336" cy="402336"/>
          </a:xfrm>
          <a:prstGeom prst="ellipse">
            <a:avLst/>
          </a:prstGeom>
          <a:solidFill>
            <a:srgbClr val="22B5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6364224" y="54361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6894576" y="5111496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Tooltips</a:t>
            </a:r>
            <a:endParaRPr lang="en-US" sz="1250" dirty="0"/>
          </a:p>
        </p:txBody>
      </p:sp>
      <p:sp>
        <p:nvSpPr>
          <p:cNvPr id="64" name="Shape 62"/>
          <p:cNvSpPr/>
          <p:nvPr/>
        </p:nvSpPr>
        <p:spPr>
          <a:xfrm>
            <a:off x="9043416" y="5111496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202A31"/>
          </a:solidFill>
          <a:ln w="9525">
            <a:solidFill>
              <a:srgbClr val="2C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9226296" y="5436108"/>
            <a:ext cx="402336" cy="402336"/>
          </a:xfrm>
          <a:prstGeom prst="ellipse">
            <a:avLst/>
          </a:prstGeom>
          <a:solidFill>
            <a:srgbClr val="FFC6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9226296" y="54361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9756648" y="5111496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Themes</a:t>
            </a:r>
            <a:endParaRPr lang="en-US" sz="1250" dirty="0"/>
          </a:p>
        </p:txBody>
      </p:sp>
      <p:sp>
        <p:nvSpPr>
          <p:cNvPr id="68" name="Text 6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Blinkit Quick-Commerce Analytics  |  Power BI Project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B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C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7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interactive pages built in Power BI, connected via Page Navigator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1C242A"/>
          </a:solidFill>
          <a:ln w="9525">
            <a:solidFill>
              <a:srgbClr val="2C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C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28800" y="18745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Overview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828800" y="237744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7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KPIs — total revenue, orders, quantity, unique customers and overall delivery success rate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60020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1C242A"/>
          </a:solidFill>
          <a:ln w="9525">
            <a:solidFill>
              <a:srgbClr val="2C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00800" y="182880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B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498080" y="18745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Analytics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498080" y="237744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7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segments, area-wise distribution, repeat customers, feedback ratings &amp; sentiment trends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1C242A"/>
          </a:solidFill>
          <a:ln w="9525">
            <a:solidFill>
              <a:srgbClr val="2C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B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828800" y="42062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&amp; Operations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828800" y="470916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7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success rate, delay reasons, area-wise delivery time and on-time vs delayed order value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393192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1C242A"/>
          </a:solidFill>
          <a:ln w="9525">
            <a:solidFill>
              <a:srgbClr val="2C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00800" y="41605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C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7498080" y="42062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&amp; Marketing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498080" y="470916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7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received vs damaged goods, campaign ROAS, spend vs revenue and channel-wise performance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Blinkit Quick-Commerce Analytics  |  Power BI Project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B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C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Benefits &amp; Future Enhancements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40680" cy="4572000"/>
          </a:xfrm>
          <a:prstGeom prst="roundRect">
            <a:avLst>
              <a:gd name="adj" fmla="val 2000"/>
            </a:avLst>
          </a:prstGeom>
          <a:solidFill>
            <a:srgbClr val="1C242A"/>
          </a:solidFill>
          <a:ln w="9525">
            <a:solidFill>
              <a:srgbClr val="2C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B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Benefits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310896" cy="310896"/>
          </a:xfrm>
          <a:prstGeom prst="ellipse">
            <a:avLst/>
          </a:prstGeom>
          <a:solidFill>
            <a:srgbClr val="22B5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07008" y="2231136"/>
            <a:ext cx="43708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Faster, Data-Driven Decisions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044952"/>
            <a:ext cx="310896" cy="310896"/>
          </a:xfrm>
          <a:prstGeom prst="ellipse">
            <a:avLst/>
          </a:prstGeom>
          <a:solidFill>
            <a:srgbClr val="22B5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31520" y="30449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07008" y="2990088"/>
            <a:ext cx="43708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Delivery Planning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803904"/>
            <a:ext cx="310896" cy="310896"/>
          </a:xfrm>
          <a:prstGeom prst="ellipse">
            <a:avLst/>
          </a:prstGeom>
          <a:solidFill>
            <a:srgbClr val="22B5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31520" y="38039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07008" y="3749040"/>
            <a:ext cx="43708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 Inventory Management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562856"/>
            <a:ext cx="310896" cy="310896"/>
          </a:xfrm>
          <a:prstGeom prst="ellipse">
            <a:avLst/>
          </a:prstGeom>
          <a:solidFill>
            <a:srgbClr val="22B5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31520" y="45628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07008" y="4507992"/>
            <a:ext cx="43708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Smarter Marketing Spend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5321808"/>
            <a:ext cx="310896" cy="310896"/>
          </a:xfrm>
          <a:prstGeom prst="ellipse">
            <a:avLst/>
          </a:prstGeom>
          <a:solidFill>
            <a:srgbClr val="22B5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31520" y="53218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07008" y="5266944"/>
            <a:ext cx="43708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Stronger Customer Retention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63640" y="1554480"/>
            <a:ext cx="5440680" cy="4572000"/>
          </a:xfrm>
          <a:prstGeom prst="roundRect">
            <a:avLst>
              <a:gd name="adj" fmla="val 2000"/>
            </a:avLst>
          </a:prstGeom>
          <a:solidFill>
            <a:srgbClr val="1C242A"/>
          </a:solidFill>
          <a:ln w="9525">
            <a:solidFill>
              <a:srgbClr val="2C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537960" y="1783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C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37960" y="2286000"/>
            <a:ext cx="310896" cy="310896"/>
          </a:xfrm>
          <a:prstGeom prst="ellipse">
            <a:avLst/>
          </a:prstGeom>
          <a:solidFill>
            <a:srgbClr val="FFC6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537960" y="22860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13448" y="2231136"/>
            <a:ext cx="43708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Order &amp; Delivery Tracking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537960" y="3044952"/>
            <a:ext cx="310896" cy="310896"/>
          </a:xfrm>
          <a:prstGeom prst="ellipse">
            <a:avLst/>
          </a:prstGeom>
          <a:solidFill>
            <a:srgbClr val="FFC6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537960" y="30449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13448" y="2990088"/>
            <a:ext cx="43708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AI-Based Demand Forecasting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537960" y="3803904"/>
            <a:ext cx="310896" cy="310896"/>
          </a:xfrm>
          <a:prstGeom prst="ellipse">
            <a:avLst/>
          </a:prstGeom>
          <a:solidFill>
            <a:srgbClr val="FFC6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537960" y="38039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013448" y="3749040"/>
            <a:ext cx="43708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Stock-Out Alerts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537960" y="4562856"/>
            <a:ext cx="310896" cy="310896"/>
          </a:xfrm>
          <a:prstGeom prst="ellipse">
            <a:avLst/>
          </a:prstGeom>
          <a:solidFill>
            <a:srgbClr val="FFC6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537960" y="45628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013448" y="4507992"/>
            <a:ext cx="43708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Marketing Recommendations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537960" y="5321808"/>
            <a:ext cx="310896" cy="310896"/>
          </a:xfrm>
          <a:prstGeom prst="ellipse">
            <a:avLst/>
          </a:prstGeom>
          <a:solidFill>
            <a:srgbClr val="FFC6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537960" y="53218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013448" y="5266944"/>
            <a:ext cx="43708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Delivery Partner Monitoring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Blinkit Quick-Commerce Analytics  |  Power BI Project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108960" cy="3108960"/>
          </a:xfrm>
          <a:prstGeom prst="ellipse">
            <a:avLst/>
          </a:prstGeom>
          <a:solidFill>
            <a:srgbClr val="22B573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241280" y="4572000"/>
            <a:ext cx="3291840" cy="3291840"/>
          </a:xfrm>
          <a:prstGeom prst="ellipse">
            <a:avLst/>
          </a:prstGeom>
          <a:solidFill>
            <a:srgbClr val="FFC629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2B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C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Operational Data</a:t>
            </a:r>
            <a:endParaRPr lang="en-US" sz="3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C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 Business Decisions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Blinkit Quick-Commerce Analytics Dashboard was developed using Power BI to analyze orders, customer behavior, delivery performance, inventory and marketing effectiveness. It provides interactive, data-driven insights through KPI cards, DAX measures, slicers, cross filtering and page navigation across four dashboard pages.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4427912"/>
            <a:ext cx="2011680" cy="0"/>
          </a:xfrm>
          <a:prstGeom prst="line">
            <a:avLst/>
          </a:prstGeom>
          <a:noFill/>
          <a:ln w="25400">
            <a:solidFill>
              <a:srgbClr val="22B57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4829694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1644" y="5394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7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KAVEYA 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828</Words>
  <Application>Microsoft Office PowerPoint</Application>
  <PresentationFormat>Widescreen</PresentationFormat>
  <Paragraphs>222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skaveyasathishskaveyasathish@gmail.com</cp:lastModifiedBy>
  <cp:revision>2</cp:revision>
  <dcterms:created xsi:type="dcterms:W3CDTF">2026-07-31T14:08:39Z</dcterms:created>
  <dcterms:modified xsi:type="dcterms:W3CDTF">2026-08-04T05:56:46Z</dcterms:modified>
</cp:coreProperties>
</file>